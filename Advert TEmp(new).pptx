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4360A"/>
    <a:srgbClr val="07541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968" autoAdjust="0"/>
    <p:restoredTop sz="94660"/>
  </p:normalViewPr>
  <p:slideViewPr>
    <p:cSldViewPr snapToGrid="0">
      <p:cViewPr varScale="1">
        <p:scale>
          <a:sx n="68" d="100"/>
          <a:sy n="68" d="100"/>
        </p:scale>
        <p:origin x="60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7FCB8E-CCDB-4867-BC8D-8F3C82F59E52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0C7B4-54D9-4F8C-ACF5-AC22BCC65C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2499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7FCB8E-CCDB-4867-BC8D-8F3C82F59E52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0C7B4-54D9-4F8C-ACF5-AC22BCC65C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02960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7FCB8E-CCDB-4867-BC8D-8F3C82F59E52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0C7B4-54D9-4F8C-ACF5-AC22BCC65C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72727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7FCB8E-CCDB-4867-BC8D-8F3C82F59E52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0C7B4-54D9-4F8C-ACF5-AC22BCC65C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67715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7FCB8E-CCDB-4867-BC8D-8F3C82F59E52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0C7B4-54D9-4F8C-ACF5-AC22BCC65C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92000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7FCB8E-CCDB-4867-BC8D-8F3C82F59E52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0C7B4-54D9-4F8C-ACF5-AC22BCC65C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66654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7FCB8E-CCDB-4867-BC8D-8F3C82F59E52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0C7B4-54D9-4F8C-ACF5-AC22BCC65C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34643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7FCB8E-CCDB-4867-BC8D-8F3C82F59E52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0C7B4-54D9-4F8C-ACF5-AC22BCC65C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39325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7FCB8E-CCDB-4867-BC8D-8F3C82F59E52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0C7B4-54D9-4F8C-ACF5-AC22BCC65C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54686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7FCB8E-CCDB-4867-BC8D-8F3C82F59E52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0C7B4-54D9-4F8C-ACF5-AC22BCC65C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11244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7FCB8E-CCDB-4867-BC8D-8F3C82F59E52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10C7B4-54D9-4F8C-ACF5-AC22BCC65C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6864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57FCB8E-CCDB-4867-BC8D-8F3C82F59E52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310C7B4-54D9-4F8C-ACF5-AC22BCC65C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92563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microsoft.com/office/2007/relationships/hdphoto" Target="../media/hdphoto1.wdp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blipFill dpi="0" rotWithShape="1">
            <a:blip r:embed="rId2">
              <a:alphaModFix amt="33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9333" y="1122363"/>
            <a:ext cx="12022667" cy="2387600"/>
          </a:xfrm>
        </p:spPr>
        <p:txBody>
          <a:bodyPr>
            <a:noAutofit/>
          </a:bodyPr>
          <a:lstStyle/>
          <a:p>
            <a:r>
              <a:rPr lang="en-US" sz="9600" b="1" dirty="0" smtClean="0">
                <a:blipFill dpi="0" rotWithShape="1">
                  <a:blip r:embed="rId3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/>
                  <a:stretch>
                    <a:fillRect/>
                  </a:stretch>
                </a:blipFill>
                <a:latin typeface="Franklin Gothic Medium" panose="020B0603020102020204" pitchFamily="34" charset="0"/>
              </a:rPr>
              <a:t>GRAPHIC DESIGNING </a:t>
            </a:r>
            <a:endParaRPr lang="en-US" sz="9600" b="1" dirty="0">
              <a:blipFill dpi="0" rotWithShape="1"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a:blipFill>
              <a:latin typeface="Franklin Gothic Medium" panose="020B0603020102020204" pitchFamily="34" charset="0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00100" y="3602038"/>
            <a:ext cx="9867900" cy="592772"/>
          </a:xfrm>
        </p:spPr>
        <p:txBody>
          <a:bodyPr>
            <a:normAutofit/>
          </a:bodyPr>
          <a:lstStyle/>
          <a:p>
            <a:r>
              <a:rPr lang="en-US" sz="3600" i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AN ESSENTIAL TOOL TO DECORATE TECH-WORLD</a:t>
            </a:r>
            <a:endParaRPr lang="en-US" sz="3600" i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5831" y="5661830"/>
            <a:ext cx="1837989" cy="1196170"/>
          </a:xfrm>
          <a:prstGeom prst="rect">
            <a:avLst/>
          </a:prstGeom>
        </p:spPr>
      </p:pic>
      <p:sp>
        <p:nvSpPr>
          <p:cNvPr id="5" name="Subtitle 2"/>
          <p:cNvSpPr txBox="1">
            <a:spLocks/>
          </p:cNvSpPr>
          <p:nvPr/>
        </p:nvSpPr>
        <p:spPr>
          <a:xfrm>
            <a:off x="7703820" y="6111722"/>
            <a:ext cx="4290060" cy="29638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i="1" dirty="0" smtClean="0">
                <a:solidFill>
                  <a:srgbClr val="07541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Franklin Gothic Medium" panose="020B0603020102020204" pitchFamily="34" charset="0"/>
              </a:rPr>
              <a:t>RURALNET TRAINING COLLEGE</a:t>
            </a:r>
            <a:endParaRPr lang="en-US" i="1" dirty="0">
              <a:solidFill>
                <a:srgbClr val="07541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Franklin Gothic Medium" panose="020B0603020102020204" pitchFamily="34" charset="0"/>
            </a:endParaRPr>
          </a:p>
        </p:txBody>
      </p:sp>
      <p:sp>
        <p:nvSpPr>
          <p:cNvPr id="7" name="Rectangle 2" descr="bg hotel"/>
          <p:cNvSpPr>
            <a:spLocks noChangeArrowheads="1"/>
          </p:cNvSpPr>
          <p:nvPr/>
        </p:nvSpPr>
        <p:spPr bwMode="auto">
          <a:xfrm>
            <a:off x="556079" y="938848"/>
            <a:ext cx="5309752" cy="1196170"/>
          </a:xfrm>
          <a:prstGeom prst="rect">
            <a:avLst/>
          </a:prstGeom>
          <a:blipFill dpi="0" rotWithShape="0">
            <a:blip r:embed="rId5">
              <a:alphaModFix amt="18000"/>
            </a:blip>
            <a:srcRect/>
            <a:stretch>
              <a:fillRect/>
            </a:stretch>
          </a:blipFill>
          <a:ln w="25400" algn="ctr">
            <a:noFill/>
            <a:miter lim="800000"/>
            <a:headEnd/>
            <a:tailEnd/>
          </a:ln>
          <a:effectLst/>
        </p:spPr>
        <p:txBody>
          <a:bodyPr vert="horz" wrap="square" lIns="36576" tIns="36576" rIns="36576" bIns="36576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722406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0" name="Picture 6" descr="Blue background. Blue background. Blue and white background. Abstract Blue  background template. Cover background. Abstract template blue background  white squares. vector design illustration.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>
            <a:off x="3454364" y="-3454366"/>
            <a:ext cx="5248275" cy="121570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25523" y="943062"/>
            <a:ext cx="4540954" cy="981429"/>
          </a:xfrm>
        </p:spPr>
        <p:txBody>
          <a:bodyPr>
            <a:noAutofit/>
          </a:bodyPr>
          <a:lstStyle/>
          <a:p>
            <a:r>
              <a:rPr lang="en-US" sz="5400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ROAD CLERK</a:t>
            </a:r>
            <a:endParaRPr lang="en-US" sz="54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19327" y="2535409"/>
            <a:ext cx="7094299" cy="1244953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13800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ernard MT Condensed" panose="02050806060905020404" pitchFamily="18" charset="0"/>
              </a:rPr>
              <a:t>CHAIRMAN</a:t>
            </a:r>
            <a:endParaRPr lang="en-US" sz="72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Bernard MT Condensed" panose="02050806060905020404" pitchFamily="18" charset="0"/>
            </a:endParaRPr>
          </a:p>
        </p:txBody>
      </p:sp>
      <p:sp>
        <p:nvSpPr>
          <p:cNvPr id="4" name="Content Placeholder 2"/>
          <p:cNvSpPr txBox="1">
            <a:spLocks/>
          </p:cNvSpPr>
          <p:nvPr/>
        </p:nvSpPr>
        <p:spPr>
          <a:xfrm>
            <a:off x="91157" y="332144"/>
            <a:ext cx="11707061" cy="74665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5400" dirty="0" smtClean="0">
                <a:ln>
                  <a:solidFill>
                    <a:schemeClr val="bg1"/>
                  </a:solidFill>
                </a:ln>
                <a:latin typeface="Arial Black" panose="020B0A04020102020204" pitchFamily="34" charset="0"/>
              </a:rPr>
              <a:t>RANGALA BOOKING OFFICE</a:t>
            </a:r>
            <a:endParaRPr lang="en-US" sz="5400" dirty="0">
              <a:ln>
                <a:solidFill>
                  <a:schemeClr val="bg1"/>
                </a:solidFill>
              </a:ln>
              <a:latin typeface="Arial Black" panose="020B0A04020102020204" pitchFamily="34" charset="0"/>
            </a:endParaRPr>
          </a:p>
        </p:txBody>
      </p:sp>
      <p:sp>
        <p:nvSpPr>
          <p:cNvPr id="6" name="Content Placeholder 2"/>
          <p:cNvSpPr txBox="1">
            <a:spLocks/>
          </p:cNvSpPr>
          <p:nvPr/>
        </p:nvSpPr>
        <p:spPr>
          <a:xfrm>
            <a:off x="285044" y="4965521"/>
            <a:ext cx="4910667" cy="746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 smtClean="0"/>
              <a:t>MAURICE OCHIENG</a:t>
            </a:r>
            <a:endParaRPr lang="en-US" dirty="0"/>
          </a:p>
        </p:txBody>
      </p:sp>
      <p:pic>
        <p:nvPicPr>
          <p:cNvPr id="1028" name="Picture 4" descr="Blue white background Images - Free Download on Magnific (formerly Freepik)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0457"/>
          <a:stretch/>
        </p:blipFill>
        <p:spPr bwMode="auto">
          <a:xfrm>
            <a:off x="0" y="4831644"/>
            <a:ext cx="12192000" cy="20263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contrast="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7870" b="33561"/>
          <a:stretch/>
        </p:blipFill>
        <p:spPr>
          <a:xfrm flipH="1">
            <a:off x="91157" y="1145738"/>
            <a:ext cx="3397108" cy="3537122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797717" y="5042253"/>
            <a:ext cx="1837989" cy="1619804"/>
          </a:xfrm>
          <a:prstGeom prst="roundRect">
            <a:avLst>
              <a:gd name="adj" fmla="val 14875"/>
            </a:avLst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itle 1"/>
          <p:cNvSpPr txBox="1">
            <a:spLocks/>
          </p:cNvSpPr>
          <p:nvPr/>
        </p:nvSpPr>
        <p:spPr>
          <a:xfrm>
            <a:off x="91157" y="4551539"/>
            <a:ext cx="4921110" cy="98142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Franklin Gothic Medium" panose="020B0603020102020204" pitchFamily="34" charset="0"/>
              </a:rPr>
              <a:t>MAURICE OCHIENG</a:t>
            </a:r>
            <a:endParaRPr lang="en-US" sz="40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Franklin Gothic Medium" panose="020B0603020102020204" pitchFamily="34" charset="0"/>
            </a:endParaRPr>
          </a:p>
        </p:txBody>
      </p:sp>
      <p:pic>
        <p:nvPicPr>
          <p:cNvPr id="13" name="Picture 12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97717" y="5157660"/>
            <a:ext cx="1837989" cy="14927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44314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0143" y="118382"/>
            <a:ext cx="10515600" cy="1325563"/>
          </a:xfrm>
        </p:spPr>
        <p:txBody>
          <a:bodyPr>
            <a:normAutofit/>
            <a:scene3d>
              <a:camera prst="orthographicFront"/>
              <a:lightRig rig="threePt" dir="t"/>
            </a:scene3d>
            <a:sp3d extrusionH="57150">
              <a:bevelT h="25400" prst="softRound"/>
            </a:sp3d>
          </a:bodyPr>
          <a:lstStyle/>
          <a:p>
            <a:r>
              <a:rPr lang="en-US" sz="8000" dirty="0" smtClean="0">
                <a:ln w="28575">
                  <a:solidFill>
                    <a:schemeClr val="tx1"/>
                  </a:solidFill>
                </a:ln>
                <a:gradFill flip="none" rotWithShape="1">
                  <a:gsLst>
                    <a:gs pos="19000">
                      <a:srgbClr val="00B050"/>
                    </a:gs>
                    <a:gs pos="49000">
                      <a:schemeClr val="tx2">
                        <a:lumMod val="60000"/>
                        <a:lumOff val="40000"/>
                      </a:schemeClr>
                    </a:gs>
                    <a:gs pos="84000">
                      <a:srgbClr val="04360A"/>
                    </a:gs>
                  </a:gsLst>
                  <a:lin ang="2700000" scaled="1"/>
                  <a:tileRect/>
                </a:gradFill>
                <a:latin typeface="Arial Black" panose="020B0A04020102020204" pitchFamily="34" charset="0"/>
              </a:rPr>
              <a:t>COURSE DETAILS</a:t>
            </a:r>
            <a:endParaRPr lang="en-US" sz="8000" dirty="0">
              <a:ln w="28575">
                <a:solidFill>
                  <a:schemeClr val="tx1"/>
                </a:solidFill>
              </a:ln>
              <a:gradFill flip="none" rotWithShape="1">
                <a:gsLst>
                  <a:gs pos="19000">
                    <a:srgbClr val="00B050"/>
                  </a:gs>
                  <a:gs pos="49000">
                    <a:schemeClr val="tx2">
                      <a:lumMod val="60000"/>
                      <a:lumOff val="40000"/>
                    </a:schemeClr>
                  </a:gs>
                  <a:gs pos="84000">
                    <a:srgbClr val="04360A"/>
                  </a:gs>
                </a:gsLst>
                <a:lin ang="2700000" scaled="1"/>
                <a:tileRect/>
              </a:gradFill>
              <a:latin typeface="Arial Black" panose="020B0A04020102020204" pitchFamily="34" charset="0"/>
            </a:endParaRP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84972437"/>
              </p:ext>
            </p:extLst>
          </p:nvPr>
        </p:nvGraphicFramePr>
        <p:xfrm>
          <a:off x="780143" y="1443945"/>
          <a:ext cx="8474837" cy="3977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19434789"/>
                    </a:ext>
                  </a:extLst>
                </a:gridCol>
                <a:gridCol w="1972437">
                  <a:extLst>
                    <a:ext uri="{9D8B030D-6E8A-4147-A177-3AD203B41FA5}">
                      <a16:colId xmlns:a16="http://schemas.microsoft.com/office/drawing/2014/main" val="76514835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338156836"/>
                    </a:ext>
                  </a:extLst>
                </a:gridCol>
                <a:gridCol w="1832428">
                  <a:extLst>
                    <a:ext uri="{9D8B030D-6E8A-4147-A177-3AD203B41FA5}">
                      <a16:colId xmlns:a16="http://schemas.microsoft.com/office/drawing/2014/main" val="1115084836"/>
                    </a:ext>
                  </a:extLst>
                </a:gridCol>
                <a:gridCol w="1418772">
                  <a:extLst>
                    <a:ext uri="{9D8B030D-6E8A-4147-A177-3AD203B41FA5}">
                      <a16:colId xmlns:a16="http://schemas.microsoft.com/office/drawing/2014/main" val="7256572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smtClean="0"/>
                        <a:t>CODE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COURSE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DURATION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QUALIFICATION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FEES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655896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smtClean="0"/>
                        <a:t>ICT101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ICT Essentials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2 months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Open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6,600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00999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smtClean="0"/>
                        <a:t>WEB103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Web Development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3 months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20,000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934177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smtClean="0"/>
                        <a:t>PYT106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Programming 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6</a:t>
                      </a:r>
                      <a:r>
                        <a:rPr lang="en-US" baseline="0" dirty="0" smtClean="0"/>
                        <a:t> months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35,000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491696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smtClean="0"/>
                        <a:t>GRD101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Graphic Designing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1 month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10,000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92486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smtClean="0"/>
                        <a:t>CCTV101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CCTV Operations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1 month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15,000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213461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smtClean="0"/>
                        <a:t>CRM102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Compute</a:t>
                      </a:r>
                      <a:r>
                        <a:rPr lang="en-US" baseline="0" dirty="0" smtClean="0"/>
                        <a:t> Repair and </a:t>
                      </a:r>
                      <a:r>
                        <a:rPr lang="en-US" baseline="0" dirty="0" err="1" smtClean="0"/>
                        <a:t>Maintanance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2 months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10,000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444637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smtClean="0"/>
                        <a:t>QBO101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 smtClean="0"/>
                        <a:t>Quickbooks</a:t>
                      </a:r>
                      <a:r>
                        <a:rPr lang="en-US" dirty="0" smtClean="0"/>
                        <a:t> 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1 month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14,000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90379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smtClean="0"/>
                        <a:t>DA103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Data Analysis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3 months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20,000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09777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smtClean="0"/>
                        <a:t>DM101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Digital</a:t>
                      </a:r>
                      <a:r>
                        <a:rPr lang="en-US" baseline="0" dirty="0" smtClean="0"/>
                        <a:t> Marketing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2 months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20,000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06554083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9710057" y="2206171"/>
            <a:ext cx="4356514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Course codes for:</a:t>
            </a:r>
          </a:p>
          <a:p>
            <a:r>
              <a:rPr lang="en-US" dirty="0" smtClean="0"/>
              <a:t>ICT essentials (2 months),</a:t>
            </a:r>
          </a:p>
          <a:p>
            <a:r>
              <a:rPr lang="en-US" dirty="0" smtClean="0"/>
              <a:t>Web development (3 months),</a:t>
            </a:r>
          </a:p>
          <a:p>
            <a:r>
              <a:rPr lang="en-US" dirty="0" smtClean="0"/>
              <a:t>Python Programming (6 months),</a:t>
            </a:r>
          </a:p>
          <a:p>
            <a:r>
              <a:rPr lang="en-US" dirty="0" smtClean="0"/>
              <a:t>Graphic Designing (1 month),</a:t>
            </a:r>
          </a:p>
          <a:p>
            <a:r>
              <a:rPr lang="en-US" dirty="0" smtClean="0"/>
              <a:t>CCTV Operations (2 months)</a:t>
            </a:r>
          </a:p>
          <a:p>
            <a:r>
              <a:rPr lang="en-US" dirty="0" smtClean="0"/>
              <a:t>Computer Repair &amp; </a:t>
            </a:r>
            <a:r>
              <a:rPr lang="en-US" dirty="0" err="1" smtClean="0"/>
              <a:t>Maintanance</a:t>
            </a:r>
            <a:r>
              <a:rPr lang="en-US" dirty="0" smtClean="0"/>
              <a:t> (2 months)</a:t>
            </a:r>
          </a:p>
          <a:p>
            <a:r>
              <a:rPr lang="en-US" dirty="0" smtClean="0"/>
              <a:t>QuickBooks (1 month)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561885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/>
          <p:cNvSpPr>
            <a:spLocks noChangeArrowheads="1"/>
          </p:cNvSpPr>
          <p:nvPr/>
        </p:nvSpPr>
        <p:spPr bwMode="auto">
          <a:xfrm>
            <a:off x="2425523" y="437092"/>
            <a:ext cx="7575551" cy="5321300"/>
          </a:xfrm>
          <a:prstGeom prst="rect">
            <a:avLst/>
          </a:prstGeom>
          <a:gradFill rotWithShape="0">
            <a:gsLst>
              <a:gs pos="0">
                <a:srgbClr val="D1D4FD"/>
              </a:gs>
              <a:gs pos="100000">
                <a:srgbClr val="D3F1C5"/>
              </a:gs>
            </a:gsLst>
            <a:lin ang="5400000"/>
          </a:gra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000000"/>
                  </a:outerShdw>
                </a:effectLst>
              </a14:hiddenEffects>
            </a:ext>
          </a:extLst>
        </p:spPr>
        <p:txBody>
          <a:bodyPr vert="horz" wrap="square" lIns="36576" tIns="36576" rIns="36576" bIns="36576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1684601" y="2066270"/>
            <a:ext cx="4324979" cy="2489981"/>
          </a:xfrm>
          <a:prstGeom prst="rect">
            <a:avLst/>
          </a:prstGeom>
          <a:blipFill dpi="0" rotWithShape="1">
            <a:blip r:embed="rId2" cstate="print">
              <a:alphaModFix amt="26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ontrol 3"/>
          <p:cNvSpPr>
            <a:spLocks noChangeArrowheads="1" noChangeShapeType="1"/>
          </p:cNvSpPr>
          <p:nvPr/>
        </p:nvSpPr>
        <p:spPr bwMode="auto">
          <a:xfrm>
            <a:off x="2627136" y="1060980"/>
            <a:ext cx="7175500" cy="4500562"/>
          </a:xfrm>
          <a:prstGeom prst="rect">
            <a:avLst/>
          </a:prstGeom>
          <a:noFill/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noFill/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000000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 dirty="0" smtClean="0">
                <a:ln>
                  <a:noFill/>
                </a:ln>
                <a:solidFill>
                  <a:srgbClr val="FFFFFF"/>
                </a:solidFill>
                <a:effectLst/>
                <a:latin typeface="Calibri" panose="020F0502020204030204" pitchFamily="34" charset="0"/>
              </a:rPr>
              <a:t>CODE</a:t>
            </a:r>
            <a:endParaRPr kumimoji="0" lang="en-US" altLang="en-US" sz="1200" b="0" i="0" u="none" strike="noStrike" cap="none" normalizeH="0" baseline="0" dirty="0" smtClean="0">
              <a:ln>
                <a:noFill/>
              </a:ln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 dirty="0" smtClean="0">
                <a:ln>
                  <a:noFill/>
                </a:ln>
                <a:solidFill>
                  <a:srgbClr val="FFFFFF"/>
                </a:solidFill>
                <a:effectLst/>
                <a:latin typeface="Calibri" panose="020F0502020204030204" pitchFamily="34" charset="0"/>
              </a:rPr>
              <a:t>COURSE</a:t>
            </a:r>
            <a:endParaRPr kumimoji="0" lang="en-US" altLang="en-US" sz="1200" b="0" i="0" u="none" strike="noStrike" cap="none" normalizeH="0" baseline="0" dirty="0" smtClean="0">
              <a:ln>
                <a:noFill/>
              </a:ln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 dirty="0" smtClean="0">
                <a:ln>
                  <a:noFill/>
                </a:ln>
                <a:solidFill>
                  <a:srgbClr val="FFFFFF"/>
                </a:solidFill>
                <a:effectLst/>
                <a:latin typeface="Calibri" panose="020F0502020204030204" pitchFamily="34" charset="0"/>
              </a:rPr>
              <a:t>DURATION</a:t>
            </a:r>
            <a:endParaRPr kumimoji="0" lang="en-US" altLang="en-US" sz="1200" b="0" i="0" u="none" strike="noStrike" cap="none" normalizeH="0" baseline="0" dirty="0" smtClean="0">
              <a:ln>
                <a:noFill/>
              </a:ln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 dirty="0" smtClean="0">
                <a:ln>
                  <a:noFill/>
                </a:ln>
                <a:solidFill>
                  <a:srgbClr val="FFFFFF"/>
                </a:solidFill>
                <a:effectLst/>
                <a:latin typeface="Calibri" panose="020F0502020204030204" pitchFamily="34" charset="0"/>
              </a:rPr>
              <a:t>QUALIFICATION</a:t>
            </a:r>
            <a:endParaRPr kumimoji="0" lang="en-US" altLang="en-US" sz="1200" b="0" i="0" u="none" strike="noStrike" cap="none" normalizeH="0" baseline="0" dirty="0" smtClean="0">
              <a:ln>
                <a:noFill/>
              </a:ln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 dirty="0" smtClean="0">
                <a:ln>
                  <a:noFill/>
                </a:ln>
                <a:solidFill>
                  <a:srgbClr val="FFFFFF"/>
                </a:solidFill>
                <a:effectLst/>
                <a:latin typeface="Calibri" panose="020F0502020204030204" pitchFamily="34" charset="0"/>
              </a:rPr>
              <a:t>FEES</a:t>
            </a:r>
            <a:endParaRPr kumimoji="0" lang="en-US" altLang="en-US" sz="1200" b="0" i="0" u="none" strike="noStrike" cap="none" normalizeH="0" baseline="0" dirty="0" smtClean="0">
              <a:ln>
                <a:noFill/>
              </a:ln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000" b="0" i="0" u="none" strike="noStrike" cap="none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ICT101</a:t>
            </a:r>
            <a:endParaRPr kumimoji="0" lang="en-US" altLang="en-US" sz="1000" b="0" i="0" u="none" strike="noStrike" cap="none" normalizeH="0" baseline="0" dirty="0" smtClean="0">
              <a:ln>
                <a:noFill/>
              </a:ln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100" b="0" i="0" u="none" strike="noStrike" cap="none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ICT Essentials</a:t>
            </a:r>
            <a:endParaRPr kumimoji="0" lang="en-US" altLang="en-US" sz="1100" b="0" i="0" u="none" strike="noStrike" cap="none" normalizeH="0" baseline="0" dirty="0" smtClean="0">
              <a:ln>
                <a:noFill/>
              </a:ln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000" b="0" i="0" u="none" strike="noStrike" cap="none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2 months</a:t>
            </a:r>
            <a:endParaRPr kumimoji="0" lang="en-US" altLang="en-US" sz="1000" b="0" i="0" u="none" strike="noStrike" cap="none" normalizeH="0" baseline="0" dirty="0" smtClean="0">
              <a:ln>
                <a:noFill/>
              </a:ln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000" b="0" i="0" u="none" strike="noStrike" cap="none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Open</a:t>
            </a:r>
            <a:endParaRPr kumimoji="0" lang="en-US" altLang="en-US" sz="1000" b="0" i="0" u="none" strike="noStrike" cap="none" normalizeH="0" baseline="0" dirty="0" smtClean="0">
              <a:ln>
                <a:noFill/>
              </a:ln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000" b="0" i="0" u="none" strike="noStrike" cap="none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6,600</a:t>
            </a:r>
            <a:endParaRPr kumimoji="0" lang="en-US" altLang="en-US" sz="1000" b="0" i="0" u="none" strike="noStrike" cap="none" normalizeH="0" baseline="0" dirty="0" smtClean="0">
              <a:ln>
                <a:noFill/>
              </a:ln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000" b="0" i="0" u="none" strike="noStrike" cap="none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WEB103</a:t>
            </a:r>
            <a:endParaRPr kumimoji="0" lang="en-US" altLang="en-US" sz="1000" b="0" i="0" u="none" strike="noStrike" cap="none" normalizeH="0" baseline="0" dirty="0" smtClean="0">
              <a:ln>
                <a:noFill/>
              </a:ln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100" b="0" i="0" u="none" strike="noStrike" cap="none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Web Development</a:t>
            </a:r>
            <a:endParaRPr kumimoji="0" lang="en-US" altLang="en-US" sz="1100" b="0" i="0" u="none" strike="noStrike" cap="none" normalizeH="0" baseline="0" dirty="0" smtClean="0">
              <a:ln>
                <a:noFill/>
              </a:ln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000" b="0" i="0" u="none" strike="noStrike" cap="none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3 months</a:t>
            </a:r>
            <a:endParaRPr kumimoji="0" lang="en-US" altLang="en-US" sz="1000" b="0" i="0" u="none" strike="noStrike" cap="none" normalizeH="0" baseline="0" dirty="0" smtClean="0">
              <a:ln>
                <a:noFill/>
              </a:ln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000" b="0" i="0" u="none" strike="noStrike" cap="none" normalizeH="0" baseline="0" dirty="0" smtClean="0">
              <a:ln>
                <a:noFill/>
              </a:ln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000" b="0" i="0" u="none" strike="noStrike" cap="none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20,000</a:t>
            </a:r>
            <a:endParaRPr kumimoji="0" lang="en-US" altLang="en-US" sz="1000" b="0" i="0" u="none" strike="noStrike" cap="none" normalizeH="0" baseline="0" dirty="0" smtClean="0">
              <a:ln>
                <a:noFill/>
              </a:ln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000" b="0" i="0" u="none" strike="noStrike" cap="none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PYT106</a:t>
            </a:r>
            <a:endParaRPr kumimoji="0" lang="en-US" altLang="en-US" sz="1000" b="0" i="0" u="none" strike="noStrike" cap="none" normalizeH="0" baseline="0" dirty="0" smtClean="0">
              <a:ln>
                <a:noFill/>
              </a:ln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100" b="0" i="0" u="none" strike="noStrike" cap="none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Programming</a:t>
            </a:r>
            <a:endParaRPr kumimoji="0" lang="en-US" altLang="en-US" sz="1100" b="0" i="0" u="none" strike="noStrike" cap="none" normalizeH="0" baseline="0" dirty="0" smtClean="0">
              <a:ln>
                <a:noFill/>
              </a:ln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000" b="0" i="0" u="none" strike="noStrike" cap="none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6 months</a:t>
            </a:r>
            <a:endParaRPr kumimoji="0" lang="en-US" altLang="en-US" sz="1000" b="0" i="0" u="none" strike="noStrike" cap="none" normalizeH="0" baseline="0" dirty="0" smtClean="0">
              <a:ln>
                <a:noFill/>
              </a:ln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000" b="0" i="0" u="none" strike="noStrike" cap="none" normalizeH="0" baseline="0" dirty="0" smtClean="0">
              <a:ln>
                <a:noFill/>
              </a:ln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000" b="0" i="0" u="none" strike="noStrike" cap="none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35,000</a:t>
            </a:r>
            <a:endParaRPr kumimoji="0" lang="en-US" altLang="en-US" sz="1000" b="0" i="0" u="none" strike="noStrike" cap="none" normalizeH="0" baseline="0" dirty="0" smtClean="0">
              <a:ln>
                <a:noFill/>
              </a:ln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000" b="0" i="0" u="none" strike="noStrike" cap="none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GRD101</a:t>
            </a:r>
            <a:endParaRPr kumimoji="0" lang="en-US" altLang="en-US" sz="1000" b="0" i="0" u="none" strike="noStrike" cap="none" normalizeH="0" baseline="0" dirty="0" smtClean="0">
              <a:ln>
                <a:noFill/>
              </a:ln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100" b="0" i="0" u="none" strike="noStrike" cap="none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Graphic Designing</a:t>
            </a:r>
            <a:endParaRPr kumimoji="0" lang="en-US" altLang="en-US" sz="1100" b="0" i="0" u="none" strike="noStrike" cap="none" normalizeH="0" baseline="0" dirty="0" smtClean="0">
              <a:ln>
                <a:noFill/>
              </a:ln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000" b="0" i="0" u="none" strike="noStrike" cap="none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1 month</a:t>
            </a:r>
            <a:endParaRPr kumimoji="0" lang="en-US" altLang="en-US" sz="1000" b="0" i="0" u="none" strike="noStrike" cap="none" normalizeH="0" baseline="0" dirty="0" smtClean="0">
              <a:ln>
                <a:noFill/>
              </a:ln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000" b="0" i="0" u="none" strike="noStrike" cap="none" normalizeH="0" baseline="0" dirty="0" smtClean="0">
              <a:ln>
                <a:noFill/>
              </a:ln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000" b="0" i="0" u="none" strike="noStrike" cap="none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10,000</a:t>
            </a:r>
            <a:endParaRPr kumimoji="0" lang="en-US" altLang="en-US" sz="1000" b="0" i="0" u="none" strike="noStrike" cap="none" normalizeH="0" baseline="0" dirty="0" smtClean="0">
              <a:ln>
                <a:noFill/>
              </a:ln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000" b="0" i="0" u="none" strike="noStrike" cap="none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CCTV101</a:t>
            </a:r>
            <a:endParaRPr kumimoji="0" lang="en-US" altLang="en-US" sz="1000" b="0" i="0" u="none" strike="noStrike" cap="none" normalizeH="0" baseline="0" dirty="0" smtClean="0">
              <a:ln>
                <a:noFill/>
              </a:ln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100" b="0" i="0" u="none" strike="noStrike" cap="none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CCTV Operations</a:t>
            </a:r>
            <a:endParaRPr kumimoji="0" lang="en-US" altLang="en-US" sz="1100" b="0" i="0" u="none" strike="noStrike" cap="none" normalizeH="0" baseline="0" dirty="0" smtClean="0">
              <a:ln>
                <a:noFill/>
              </a:ln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000" b="0" i="0" u="none" strike="noStrike" cap="none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1 month</a:t>
            </a:r>
            <a:endParaRPr kumimoji="0" lang="en-US" altLang="en-US" sz="1000" b="0" i="0" u="none" strike="noStrike" cap="none" normalizeH="0" baseline="0" dirty="0" smtClean="0">
              <a:ln>
                <a:noFill/>
              </a:ln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000" b="0" i="0" u="none" strike="noStrike" cap="none" normalizeH="0" baseline="0" dirty="0" smtClean="0">
              <a:ln>
                <a:noFill/>
              </a:ln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000" b="0" i="0" u="none" strike="noStrike" cap="none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15,000</a:t>
            </a:r>
            <a:endParaRPr kumimoji="0" lang="en-US" altLang="en-US" sz="1000" b="0" i="0" u="none" strike="noStrike" cap="none" normalizeH="0" baseline="0" dirty="0" smtClean="0">
              <a:ln>
                <a:noFill/>
              </a:ln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000" b="0" i="0" u="none" strike="noStrike" cap="none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CRM102</a:t>
            </a:r>
            <a:endParaRPr kumimoji="0" lang="en-US" altLang="en-US" sz="1000" b="0" i="0" u="none" strike="noStrike" cap="none" normalizeH="0" baseline="0" dirty="0" smtClean="0">
              <a:ln>
                <a:noFill/>
              </a:ln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100" b="0" i="0" u="none" strike="noStrike" cap="none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Compute Repair and </a:t>
            </a:r>
            <a:r>
              <a:rPr kumimoji="0" lang="en-US" altLang="en-US" sz="1100" b="0" i="0" u="none" strike="noStrike" cap="none" normalizeH="0" baseline="0" dirty="0" err="1" smtClean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Maintanance</a:t>
            </a:r>
            <a:endParaRPr kumimoji="0" lang="en-US" altLang="en-US" sz="1100" b="0" i="0" u="none" strike="noStrike" cap="none" normalizeH="0" baseline="0" dirty="0" smtClean="0">
              <a:ln>
                <a:noFill/>
              </a:ln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000" b="0" i="0" u="none" strike="noStrike" cap="none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2 months</a:t>
            </a:r>
            <a:endParaRPr kumimoji="0" lang="en-US" altLang="en-US" sz="1000" b="0" i="0" u="none" strike="noStrike" cap="none" normalizeH="0" baseline="0" dirty="0" smtClean="0">
              <a:ln>
                <a:noFill/>
              </a:ln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000" b="0" i="0" u="none" strike="noStrike" cap="none" normalizeH="0" baseline="0" dirty="0" smtClean="0">
              <a:ln>
                <a:noFill/>
              </a:ln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000" b="0" i="0" u="none" strike="noStrike" cap="none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10,000</a:t>
            </a:r>
            <a:endParaRPr kumimoji="0" lang="en-US" altLang="en-US" sz="1000" b="0" i="0" u="none" strike="noStrike" cap="none" normalizeH="0" baseline="0" dirty="0" smtClean="0">
              <a:ln>
                <a:noFill/>
              </a:ln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000" b="0" i="0" u="none" strike="noStrike" cap="none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QBO101</a:t>
            </a:r>
            <a:endParaRPr kumimoji="0" lang="en-US" altLang="en-US" sz="1000" b="0" i="0" u="none" strike="noStrike" cap="none" normalizeH="0" baseline="0" dirty="0" smtClean="0">
              <a:ln>
                <a:noFill/>
              </a:ln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100" b="0" i="0" u="none" strike="noStrike" cap="none" normalizeH="0" baseline="0" dirty="0" err="1" smtClean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Quickbooks</a:t>
            </a:r>
            <a:endParaRPr kumimoji="0" lang="en-US" altLang="en-US" sz="1100" b="0" i="0" u="none" strike="noStrike" cap="none" normalizeH="0" baseline="0" dirty="0" smtClean="0">
              <a:ln>
                <a:noFill/>
              </a:ln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000" b="0" i="0" u="none" strike="noStrike" cap="none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1 month</a:t>
            </a:r>
            <a:endParaRPr kumimoji="0" lang="en-US" altLang="en-US" sz="1000" b="0" i="0" u="none" strike="noStrike" cap="none" normalizeH="0" baseline="0" dirty="0" smtClean="0">
              <a:ln>
                <a:noFill/>
              </a:ln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000" b="0" i="0" u="none" strike="noStrike" cap="none" normalizeH="0" baseline="0" dirty="0" smtClean="0">
              <a:ln>
                <a:noFill/>
              </a:ln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000" b="0" i="0" u="none" strike="noStrike" cap="none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14,000</a:t>
            </a:r>
            <a:endParaRPr kumimoji="0" lang="en-US" altLang="en-US" sz="1000" b="0" i="0" u="none" strike="noStrike" cap="none" normalizeH="0" baseline="0" dirty="0" smtClean="0">
              <a:ln>
                <a:noFill/>
              </a:ln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000" b="0" i="0" u="none" strike="noStrike" cap="none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DA103</a:t>
            </a:r>
            <a:endParaRPr kumimoji="0" lang="en-US" altLang="en-US" sz="1000" b="0" i="0" u="none" strike="noStrike" cap="none" normalizeH="0" baseline="0" dirty="0" smtClean="0">
              <a:ln>
                <a:noFill/>
              </a:ln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100" b="0" i="0" u="none" strike="noStrike" cap="none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Data Analysis</a:t>
            </a:r>
            <a:endParaRPr kumimoji="0" lang="en-US" altLang="en-US" sz="1100" b="0" i="0" u="none" strike="noStrike" cap="none" normalizeH="0" baseline="0" dirty="0" smtClean="0">
              <a:ln>
                <a:noFill/>
              </a:ln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000" b="0" i="0" u="none" strike="noStrike" cap="none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3 months</a:t>
            </a:r>
            <a:endParaRPr kumimoji="0" lang="en-US" altLang="en-US" sz="1000" b="0" i="0" u="none" strike="noStrike" cap="none" normalizeH="0" baseline="0" dirty="0" smtClean="0">
              <a:ln>
                <a:noFill/>
              </a:ln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000" b="0" i="0" u="none" strike="noStrike" cap="none" normalizeH="0" baseline="0" dirty="0" smtClean="0">
              <a:ln>
                <a:noFill/>
              </a:ln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000" b="0" i="0" u="none" strike="noStrike" cap="none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20,000</a:t>
            </a:r>
            <a:endParaRPr kumimoji="0" lang="en-US" altLang="en-US" sz="1000" b="0" i="0" u="none" strike="noStrike" cap="none" normalizeH="0" baseline="0" dirty="0" smtClean="0">
              <a:ln>
                <a:noFill/>
              </a:ln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000" b="0" i="0" u="none" strike="noStrike" cap="none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DM101</a:t>
            </a:r>
            <a:endParaRPr kumimoji="0" lang="en-US" altLang="en-US" sz="1000" b="0" i="0" u="none" strike="noStrike" cap="none" normalizeH="0" baseline="0" dirty="0" smtClean="0">
              <a:ln>
                <a:noFill/>
              </a:ln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100" b="0" i="0" u="none" strike="noStrike" cap="none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Digital Marketing</a:t>
            </a:r>
            <a:endParaRPr kumimoji="0" lang="en-US" altLang="en-US" sz="1100" b="0" i="0" u="none" strike="noStrike" cap="none" normalizeH="0" baseline="0" dirty="0" smtClean="0">
              <a:ln>
                <a:noFill/>
              </a:ln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000" b="0" i="0" u="none" strike="noStrike" cap="none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2 months</a:t>
            </a:r>
            <a:endParaRPr kumimoji="0" lang="en-US" altLang="en-US" sz="1000" b="0" i="0" u="none" strike="noStrike" cap="none" normalizeH="0" baseline="0" dirty="0" smtClean="0">
              <a:ln>
                <a:noFill/>
              </a:ln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000" b="0" i="0" u="none" strike="noStrike" cap="none" normalizeH="0" baseline="0" dirty="0" smtClean="0">
              <a:ln>
                <a:noFill/>
              </a:ln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000" b="0" i="0" u="none" strike="noStrike" cap="none" normalizeH="0" baseline="0" dirty="0" smtClean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20,000</a:t>
            </a:r>
            <a:endParaRPr kumimoji="0" lang="en-US" altLang="en-US" sz="1000" b="0" i="0" u="none" strike="noStrike" cap="none" normalizeH="0" baseline="0" dirty="0" smtClean="0">
              <a:ln>
                <a:noFill/>
              </a:ln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000" b="0" i="0" u="none" strike="noStrike" cap="none" normalizeH="0" baseline="0" dirty="0" smtClean="0">
                <a:ln>
                  <a:noFill/>
                </a:ln>
                <a:solidFill>
                  <a:srgbClr val="1D4418"/>
                </a:solidFill>
                <a:effectLst/>
                <a:latin typeface="Arial" panose="020B0604020202020204" pitchFamily="34" charset="0"/>
              </a:rPr>
              <a:t>CM11-23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100" b="1" i="0" u="none" strike="noStrike" cap="none" normalizeH="0" baseline="0" dirty="0" smtClean="0">
                <a:ln>
                  <a:noFill/>
                </a:ln>
                <a:solidFill>
                  <a:srgbClr val="1D4418"/>
                </a:solidFill>
                <a:effectLst/>
                <a:latin typeface="Arial Narrow" panose="020B0606020202030204" pitchFamily="34" charset="0"/>
              </a:rPr>
              <a:t>Certificate in Accounting and Management Skills</a:t>
            </a:r>
            <a:endParaRPr kumimoji="0" lang="en-US" altLang="en-US" sz="1000" b="1" i="0" u="none" strike="noStrike" cap="none" normalizeH="0" baseline="0" dirty="0" smtClean="0">
              <a:ln>
                <a:noFill/>
              </a:ln>
              <a:solidFill>
                <a:srgbClr val="1D4418"/>
              </a:solidFill>
              <a:effectLst/>
              <a:latin typeface="Arial Narrow" panose="020B060602020203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100" b="0" i="0" u="none" strike="noStrike" cap="none" normalizeH="0" baseline="0" dirty="0" smtClean="0">
                <a:ln>
                  <a:noFill/>
                </a:ln>
                <a:solidFill>
                  <a:srgbClr val="1D4418"/>
                </a:solidFill>
                <a:effectLst/>
                <a:latin typeface="Arial" panose="020B0604020202020204" pitchFamily="34" charset="0"/>
              </a:rPr>
              <a:t>12 months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100" b="0" i="0" u="none" strike="noStrike" cap="none" normalizeH="0" baseline="0" dirty="0" smtClean="0">
                <a:ln>
                  <a:noFill/>
                </a:ln>
                <a:solidFill>
                  <a:srgbClr val="1D4418"/>
                </a:solidFill>
                <a:effectLst/>
                <a:latin typeface="Arial" panose="020B0604020202020204" pitchFamily="34" charset="0"/>
              </a:rPr>
              <a:t>KCSE D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100" b="0" i="0" u="none" strike="noStrike" cap="none" normalizeH="0" baseline="0" dirty="0" smtClean="0">
                <a:ln>
                  <a:noFill/>
                </a:ln>
                <a:solidFill>
                  <a:srgbClr val="1D4418"/>
                </a:solidFill>
                <a:effectLst/>
                <a:latin typeface="Arial" panose="020B0604020202020204" pitchFamily="34" charset="0"/>
              </a:rPr>
              <a:t>25,500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000" b="0" i="0" u="none" strike="noStrike" cap="none" normalizeH="0" baseline="0" dirty="0" smtClean="0">
                <a:ln>
                  <a:noFill/>
                </a:ln>
                <a:solidFill>
                  <a:srgbClr val="1D4418"/>
                </a:solidFill>
                <a:effectLst/>
                <a:latin typeface="Arial" panose="020B0604020202020204" pitchFamily="34" charset="0"/>
              </a:rPr>
              <a:t>AD11-34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100" b="1" i="0" u="none" strike="noStrike" cap="none" normalizeH="0" baseline="0" dirty="0" smtClean="0">
                <a:ln>
                  <a:noFill/>
                </a:ln>
                <a:solidFill>
                  <a:srgbClr val="1D4418"/>
                </a:solidFill>
                <a:effectLst/>
                <a:latin typeface="Arial Narrow" panose="020B0606020202030204" pitchFamily="34" charset="0"/>
              </a:rPr>
              <a:t>Accounting Technician Diploma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100" b="0" i="0" u="none" strike="noStrike" cap="none" normalizeH="0" baseline="0" dirty="0" smtClean="0">
                <a:ln>
                  <a:noFill/>
                </a:ln>
                <a:solidFill>
                  <a:srgbClr val="1D4418"/>
                </a:solidFill>
                <a:effectLst/>
                <a:latin typeface="Arial" panose="020B0604020202020204" pitchFamily="34" charset="0"/>
              </a:rPr>
              <a:t>18 months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100" b="0" i="0" u="none" strike="noStrike" cap="none" normalizeH="0" baseline="0" dirty="0" smtClean="0">
                <a:ln>
                  <a:noFill/>
                </a:ln>
                <a:solidFill>
                  <a:srgbClr val="1D4418"/>
                </a:solidFill>
                <a:effectLst/>
                <a:latin typeface="Arial" panose="020B0604020202020204" pitchFamily="34" charset="0"/>
              </a:rPr>
              <a:t>KCSE C-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100" b="0" i="0" u="none" strike="noStrike" cap="none" normalizeH="0" baseline="0" dirty="0" smtClean="0">
                <a:ln>
                  <a:noFill/>
                </a:ln>
                <a:solidFill>
                  <a:srgbClr val="1D4418"/>
                </a:solidFill>
                <a:effectLst/>
                <a:latin typeface="Arial" panose="020B0604020202020204" pitchFamily="34" charset="0"/>
              </a:rPr>
              <a:t>38,500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000" b="0" i="0" u="none" strike="noStrike" cap="none" normalizeH="0" baseline="0" dirty="0" smtClean="0">
                <a:ln>
                  <a:noFill/>
                </a:ln>
                <a:solidFill>
                  <a:srgbClr val="1D4418"/>
                </a:solidFill>
                <a:effectLst/>
                <a:latin typeface="Arial" panose="020B0604020202020204" pitchFamily="34" charset="0"/>
              </a:rPr>
              <a:t>DQM11-47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100" b="1" i="0" u="none" strike="noStrike" cap="none" normalizeH="0" baseline="0" dirty="0" smtClean="0">
                <a:ln>
                  <a:noFill/>
                </a:ln>
                <a:solidFill>
                  <a:srgbClr val="1D4418"/>
                </a:solidFill>
                <a:effectLst/>
                <a:latin typeface="Arial Narrow" panose="020B0606020202030204" pitchFamily="34" charset="0"/>
              </a:rPr>
              <a:t>Diploma in Quality Management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100" b="0" i="0" u="none" strike="noStrike" cap="none" normalizeH="0" baseline="0" dirty="0" smtClean="0">
                <a:ln>
                  <a:noFill/>
                </a:ln>
                <a:solidFill>
                  <a:srgbClr val="1D4418"/>
                </a:solidFill>
                <a:effectLst/>
                <a:latin typeface="Arial" panose="020B0604020202020204" pitchFamily="34" charset="0"/>
              </a:rPr>
              <a:t>24 months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100" b="0" i="0" u="none" strike="noStrike" cap="none" normalizeH="0" baseline="0" dirty="0" smtClean="0">
                <a:ln>
                  <a:noFill/>
                </a:ln>
                <a:solidFill>
                  <a:srgbClr val="1D4418"/>
                </a:solidFill>
                <a:effectLst/>
                <a:latin typeface="Arial" panose="020B0604020202020204" pitchFamily="34" charset="0"/>
              </a:rPr>
              <a:t>KCSE C-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100" b="0" i="0" u="none" strike="noStrike" cap="none" normalizeH="0" baseline="0" dirty="0" smtClean="0">
                <a:ln>
                  <a:noFill/>
                </a:ln>
                <a:solidFill>
                  <a:srgbClr val="1D4418"/>
                </a:solidFill>
                <a:effectLst/>
                <a:latin typeface="Arial" panose="020B0604020202020204" pitchFamily="34" charset="0"/>
              </a:rPr>
              <a:t>54,600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000" b="0" i="0" u="none" strike="noStrike" cap="none" normalizeH="0" baseline="0" dirty="0" smtClean="0">
                <a:ln>
                  <a:noFill/>
                </a:ln>
                <a:solidFill>
                  <a:srgbClr val="1D4418"/>
                </a:solidFill>
                <a:effectLst/>
                <a:latin typeface="Arial" panose="020B0604020202020204" pitchFamily="34" charset="0"/>
              </a:rPr>
              <a:t>DN11-33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100" b="1" i="0" u="none" strike="noStrike" cap="none" normalizeH="0" baseline="0" dirty="0" smtClean="0">
                <a:ln>
                  <a:noFill/>
                </a:ln>
                <a:solidFill>
                  <a:srgbClr val="1D4418"/>
                </a:solidFill>
                <a:effectLst/>
                <a:latin typeface="Arial Narrow" panose="020B0606020202030204" pitchFamily="34" charset="0"/>
              </a:rPr>
              <a:t>Diploma in Computer Network and System Administration </a:t>
            </a:r>
            <a:endParaRPr kumimoji="0" lang="en-US" altLang="en-US" sz="1200" b="0" i="0" u="none" strike="noStrike" cap="none" normalizeH="0" baseline="0" dirty="0" smtClean="0">
              <a:ln>
                <a:noFill/>
              </a:ln>
              <a:solidFill>
                <a:srgbClr val="1D4418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100" b="0" i="0" u="none" strike="noStrike" cap="none" normalizeH="0" baseline="0" dirty="0" smtClean="0">
                <a:ln>
                  <a:noFill/>
                </a:ln>
                <a:solidFill>
                  <a:srgbClr val="1D4418"/>
                </a:solidFill>
                <a:effectLst/>
                <a:latin typeface="Arial" panose="020B0604020202020204" pitchFamily="34" charset="0"/>
              </a:rPr>
              <a:t>24 months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100" b="0" i="0" u="none" strike="noStrike" cap="none" normalizeH="0" baseline="0" dirty="0" smtClean="0">
                <a:ln>
                  <a:noFill/>
                </a:ln>
                <a:solidFill>
                  <a:srgbClr val="1D4418"/>
                </a:solidFill>
                <a:effectLst/>
                <a:latin typeface="Arial" panose="020B0604020202020204" pitchFamily="34" charset="0"/>
              </a:rPr>
              <a:t>KCSE C-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100" b="0" i="0" u="none" strike="noStrike" cap="none" normalizeH="0" baseline="0" dirty="0" smtClean="0">
                <a:ln>
                  <a:noFill/>
                </a:ln>
                <a:solidFill>
                  <a:srgbClr val="1D4418"/>
                </a:solidFill>
                <a:effectLst/>
                <a:latin typeface="Arial" panose="020B0604020202020204" pitchFamily="34" charset="0"/>
              </a:rPr>
              <a:t>40,000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000" b="0" i="0" u="none" strike="noStrike" cap="none" normalizeH="0" baseline="0" dirty="0" smtClean="0">
                <a:ln>
                  <a:noFill/>
                </a:ln>
                <a:solidFill>
                  <a:srgbClr val="1D4418"/>
                </a:solidFill>
                <a:effectLst/>
                <a:latin typeface="Arial" panose="020B0604020202020204" pitchFamily="34" charset="0"/>
              </a:rPr>
              <a:t>DD11-33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100" b="1" i="0" u="none" strike="noStrike" cap="none" normalizeH="0" baseline="0" dirty="0" smtClean="0">
                <a:ln>
                  <a:noFill/>
                </a:ln>
                <a:solidFill>
                  <a:srgbClr val="1D4418"/>
                </a:solidFill>
                <a:effectLst/>
                <a:latin typeface="Arial Narrow" panose="020B0606020202030204" pitchFamily="34" charset="0"/>
              </a:rPr>
              <a:t>Diploma in Data Management and Analytics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100" b="0" i="0" u="none" strike="noStrike" cap="none" normalizeH="0" baseline="0" dirty="0" smtClean="0">
                <a:ln>
                  <a:noFill/>
                </a:ln>
                <a:solidFill>
                  <a:srgbClr val="1D4418"/>
                </a:solidFill>
                <a:effectLst/>
                <a:latin typeface="Arial" panose="020B0604020202020204" pitchFamily="34" charset="0"/>
              </a:rPr>
              <a:t>24 months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100" b="0" i="0" u="none" strike="noStrike" cap="none" normalizeH="0" baseline="0" dirty="0" smtClean="0">
                <a:ln>
                  <a:noFill/>
                </a:ln>
                <a:solidFill>
                  <a:srgbClr val="1D4418"/>
                </a:solidFill>
                <a:effectLst/>
                <a:latin typeface="Arial" panose="020B0604020202020204" pitchFamily="34" charset="0"/>
              </a:rPr>
              <a:t>KCSE C-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100" b="0" i="0" u="none" strike="noStrike" cap="none" normalizeH="0" baseline="0" dirty="0" smtClean="0">
                <a:ln>
                  <a:noFill/>
                </a:ln>
                <a:solidFill>
                  <a:srgbClr val="1D4418"/>
                </a:solidFill>
                <a:effectLst/>
                <a:latin typeface="Arial" panose="020B0604020202020204" pitchFamily="34" charset="0"/>
              </a:rPr>
              <a:t>40,100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000" b="0" i="0" u="none" strike="noStrike" cap="none" normalizeH="0" baseline="0" dirty="0" smtClean="0">
                <a:ln>
                  <a:noFill/>
                </a:ln>
                <a:solidFill>
                  <a:srgbClr val="1D4418"/>
                </a:solidFill>
                <a:effectLst/>
                <a:latin typeface="Arial" panose="020B0604020202020204" pitchFamily="34" charset="0"/>
              </a:rPr>
              <a:t>CA11-37WP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100" b="1" i="0" u="none" strike="noStrike" cap="none" normalizeH="0" baseline="0" dirty="0" smtClean="0">
                <a:ln>
                  <a:noFill/>
                </a:ln>
                <a:solidFill>
                  <a:srgbClr val="1D4418"/>
                </a:solidFill>
                <a:effectLst/>
                <a:latin typeface="Arial Narrow" panose="020B0606020202030204" pitchFamily="34" charset="0"/>
              </a:rPr>
              <a:t>Certified Public Accountants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100" b="0" i="0" u="none" strike="noStrike" cap="none" normalizeH="0" baseline="0" dirty="0" smtClean="0">
                <a:ln>
                  <a:noFill/>
                </a:ln>
                <a:solidFill>
                  <a:srgbClr val="1D4418"/>
                </a:solidFill>
                <a:effectLst/>
                <a:latin typeface="Arial" panose="020B0604020202020204" pitchFamily="34" charset="0"/>
              </a:rPr>
              <a:t>48 months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100" b="0" i="0" u="none" strike="noStrike" cap="none" normalizeH="0" baseline="0" dirty="0" smtClean="0">
                <a:ln>
                  <a:noFill/>
                </a:ln>
                <a:solidFill>
                  <a:srgbClr val="1D4418"/>
                </a:solidFill>
                <a:effectLst/>
                <a:latin typeface="Arial" panose="020B0604020202020204" pitchFamily="34" charset="0"/>
              </a:rPr>
              <a:t>KCSE C+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100" b="0" i="0" u="none" strike="noStrike" cap="none" normalizeH="0" baseline="0" dirty="0" smtClean="0">
                <a:ln>
                  <a:noFill/>
                </a:ln>
                <a:solidFill>
                  <a:srgbClr val="1D4418"/>
                </a:solidFill>
                <a:effectLst/>
                <a:latin typeface="Arial" panose="020B0604020202020204" pitchFamily="34" charset="0"/>
              </a:rPr>
              <a:t>115,800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100" b="1" i="1" u="sng" strike="noStrike" cap="none" normalizeH="0" baseline="0" dirty="0" smtClean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Accounting &amp; Finance</a:t>
            </a:r>
            <a:endParaRPr kumimoji="0" lang="en-US" alt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54136" y="546630"/>
            <a:ext cx="6804025" cy="6524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5B9BD5"/>
                </a:solidFill>
              </a14:hiddenFill>
            </a:ext>
            <a:ext uri="{91240B29-F687-4F45-9708-019B960494DF}">
              <a14:hiddenLine xmlns:a14="http://schemas.microsoft.com/office/drawing/2010/main" w="25400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000000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6847189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1384</TotalTime>
  <Words>259</Words>
  <Application>Microsoft Office PowerPoint</Application>
  <PresentationFormat>Widescreen</PresentationFormat>
  <Paragraphs>140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2" baseType="lpstr">
      <vt:lpstr>Arial</vt:lpstr>
      <vt:lpstr>Arial Black</vt:lpstr>
      <vt:lpstr>Arial Narrow</vt:lpstr>
      <vt:lpstr>Bernard MT Condensed</vt:lpstr>
      <vt:lpstr>Calibri</vt:lpstr>
      <vt:lpstr>Calibri Light</vt:lpstr>
      <vt:lpstr>Franklin Gothic Medium</vt:lpstr>
      <vt:lpstr>Office Theme</vt:lpstr>
      <vt:lpstr>GRAPHIC DESIGNING </vt:lpstr>
      <vt:lpstr>ROAD CLERK</vt:lpstr>
      <vt:lpstr>COURSE DETAILS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GRAPHIC DESIGNING</dc:title>
  <dc:creator>RURALNET 2025</dc:creator>
  <cp:lastModifiedBy>RURALNET 2025</cp:lastModifiedBy>
  <cp:revision>13</cp:revision>
  <dcterms:created xsi:type="dcterms:W3CDTF">2026-10-07T05:11:28Z</dcterms:created>
  <dcterms:modified xsi:type="dcterms:W3CDTF">2026-10-08T16:35:02Z</dcterms:modified>
</cp:coreProperties>
</file>